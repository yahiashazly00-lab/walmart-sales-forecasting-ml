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9" r:id="rId12"/>
    <p:sldId id="270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9308-CDF9-60B0-4EA5-9F0B4D9B3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8C204-89D7-E722-BE7B-D5A8C42FA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EFE9F-B1F2-B34D-A327-9D41B0B1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7AC1-F89D-5A73-86B9-19BFF64A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D7CC3-468A-EC75-2F0C-DB0B8FB9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AF79-E6A5-FA6B-5B56-554844685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8C76-E2DF-ACC7-F8BB-CA4FA7EB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3B3BF-E56D-A88B-E41C-4A8CE1B9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C3B5-E110-CCFB-AEEC-75806EE0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01500-D91E-669B-145E-4B894FF7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2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A8FA-6C2F-24EE-7525-2E8CE1CD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E8972-2176-5DFE-4988-05426428C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F7AD1-6E6F-6C74-97F5-43EFE3F0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9049D-E8D4-C5C5-8C93-928BA849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691CE-E854-83AF-E7BD-B1E720E5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6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0CEA-AB86-B19B-69B7-269B397C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FC80-E11A-099C-10BD-7514E3C4F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D91B5-D678-24A3-34EF-5539046DC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D2B34-E969-BF50-AEC3-54E58E61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0D31B-AD77-CDA2-4F73-5856D1D9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6CEA5-A96B-2398-96E3-67ED014F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2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E0AB-B0C5-0594-2865-C8F78CC4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AF5CF-1C63-E106-A76F-F93C0F591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14EAF-904E-ED91-070F-F3AAD7FED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7C978-F996-BAFA-5190-45BE6493F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035D-D5B6-F535-7222-6DBE79F6A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85A49-4426-360C-EC87-BC96BBC9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370420-B72F-F5C1-5BC2-A5D5DE80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62181-7D05-0598-6A41-FD1CB7D1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2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F6BE-7E2D-31A8-64BB-B043688D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BC108-F902-2DCF-D154-F68488B1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2A045-78B1-17CD-4B85-97926EC1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FF8F6-67D9-4276-0D16-40E3C06E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4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2251C-2AEF-D1A6-6552-194BB707A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DAEC5-5B6D-7DEA-688E-1E1C9BB8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45EE9-F73A-4107-083A-A94A09FF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3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060A-1C51-1971-B53F-51AA9144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FE472-8E8B-2B17-EC24-00410877D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114DD-B658-AE3D-36F0-4A4734992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E427A-3EC2-263B-6459-7F943D89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90A5A-CD73-21DF-E539-88378DB6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0BE63-02C2-E321-2406-C2F29C5C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6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BDFD-2764-D4F2-0CA0-F03C0B0B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C38F8-5FA4-516C-C2DD-BFFBAF3E8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A1C8F-68DA-6B76-34D2-2835A830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84393-926B-42B9-CFB4-2BC538B4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6A9CE-D9BB-ACA4-CD74-6B3E8C84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FE615-FAF8-FF2A-0F0D-873ED49C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075F-559A-5931-4094-762CCD3F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A01F6-46E2-F57C-D3BF-7BBC7AE24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A6CB3-C2C7-500B-57E5-A9FB2DEF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CCA79-E609-C91F-C81B-658EA3C7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98A9B-2300-34F6-02B7-9F42F796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84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90E40-7B5F-63FE-C548-3067EFE51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5854B-7514-89D4-E14B-5EA12F7A3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F8EE-F88F-ED82-7525-039AF0F3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AC1D9-C183-D654-07A6-17A58F9B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A285F-BE47-3D31-6FE3-482A95E1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7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88B33-1B71-B4E3-B7C1-0E3CB702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4C79E-A96D-7956-8F34-73901C1BD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B6D7D-4C52-9813-34AA-D98D143B3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72AF3-5E05-4619-96D3-ADED4EC19E4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2F81-E665-C0EC-5B0B-5778A8897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35307-12EA-8E00-9DA9-7DE9E0B6F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72222-CEB8-46D4-BE10-02DE5986B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2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C5BC73-3B82-2BBB-40E1-0BBE9971D240}"/>
              </a:ext>
            </a:extLst>
          </p:cNvPr>
          <p:cNvSpPr txBox="1"/>
          <p:nvPr/>
        </p:nvSpPr>
        <p:spPr>
          <a:xfrm>
            <a:off x="3165987" y="2828835"/>
            <a:ext cx="5860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Josefin Sans Bold" pitchFamily="2" charset="0"/>
              </a:rPr>
              <a:t>Walmart Sales Forecasting </a:t>
            </a:r>
          </a:p>
        </p:txBody>
      </p:sp>
    </p:spTree>
    <p:extLst>
      <p:ext uri="{BB962C8B-B14F-4D97-AF65-F5344CB8AC3E}">
        <p14:creationId xmlns:p14="http://schemas.microsoft.com/office/powerpoint/2010/main" val="1833259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D56F-B300-3D65-A789-99E10A12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C238-F834-C26E-043C-0CAAF28C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8E672-5471-E055-83B9-EF904A9B3D5E}"/>
              </a:ext>
            </a:extLst>
          </p:cNvPr>
          <p:cNvSpPr txBox="1"/>
          <p:nvPr/>
        </p:nvSpPr>
        <p:spPr>
          <a:xfrm>
            <a:off x="838200" y="1907459"/>
            <a:ext cx="1041973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Josefin Sans" pitchFamily="2" charset="0"/>
              </a:rPr>
              <a:t>Walmart needs to know:</a:t>
            </a:r>
          </a:p>
          <a:p>
            <a:endParaRPr lang="en-US" sz="2400" dirty="0">
              <a:latin typeface="Josefi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Josefin Sans" pitchFamily="2" charset="0"/>
              </a:rPr>
              <a:t>How much products customers will buy next week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Josefin Sans" pitchFamily="2" charset="0"/>
              </a:rPr>
              <a:t>Which departments will sell more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Josefin Sans" pitchFamily="2" charset="0"/>
              </a:rPr>
              <a:t>When demand increases during holidays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Josefin Sans" pitchFamily="2" charset="0"/>
            </a:endParaRPr>
          </a:p>
          <a:p>
            <a:r>
              <a:rPr lang="en-US" sz="2800" dirty="0">
                <a:latin typeface="Josefin Sans" pitchFamily="2" charset="0"/>
              </a:rPr>
              <a:t>If predictions are wrong:</a:t>
            </a:r>
          </a:p>
          <a:p>
            <a:endParaRPr lang="en-US" sz="2400" dirty="0">
              <a:latin typeface="Josefi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Josefin Sans" pitchFamily="2" charset="0"/>
              </a:rPr>
              <a:t>Stores may run out of products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Josefin Sans" pitchFamily="2" charset="0"/>
              </a:rPr>
              <a:t>Or buy too much inventory and lose money</a:t>
            </a:r>
          </a:p>
          <a:p>
            <a:endParaRPr lang="en-US" sz="2400" dirty="0"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94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AC62-E51A-E5DE-FFD2-4AB19132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Data Preparation and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6CDF2-1A86-1B02-6A94-C9E50C31B511}"/>
              </a:ext>
            </a:extLst>
          </p:cNvPr>
          <p:cNvSpPr txBox="1"/>
          <p:nvPr/>
        </p:nvSpPr>
        <p:spPr>
          <a:xfrm>
            <a:off x="973394" y="1976284"/>
            <a:ext cx="996007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Walmart historical sales data from Kaggle.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Josefin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The dataset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Josefin Sans" pitchFamily="2" charset="0"/>
            </a:endParaRPr>
          </a:p>
          <a:p>
            <a:pPr lvl="2"/>
            <a:r>
              <a:rPr lang="en-US" sz="2000" dirty="0">
                <a:latin typeface="Josefin Sans" pitchFamily="2" charset="0"/>
              </a:rPr>
              <a:t>Store ID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Department ID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Weekly sales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Temperature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Fuel price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CPI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Unemployment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Holiday information </a:t>
            </a:r>
          </a:p>
          <a:p>
            <a:pPr lvl="2"/>
            <a:r>
              <a:rPr lang="en-US" sz="2000" dirty="0">
                <a:latin typeface="Josefin Sans" pitchFamily="2" charset="0"/>
              </a:rPr>
              <a:t>Markdown discounts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>
              <a:latin typeface="Josefi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Josefin Sans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3CF942-A90E-5847-64C1-9B167C3D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79" b="27811"/>
          <a:stretch>
            <a:fillRect/>
          </a:stretch>
        </p:blipFill>
        <p:spPr>
          <a:xfrm>
            <a:off x="6960931" y="1789471"/>
            <a:ext cx="2054698" cy="86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5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7AE2-5CD4-82FF-848B-422D487B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C4E5-2D81-8696-3AD3-7B30B957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Data Preparation and Preprocessing : Data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7A600-1124-B236-2A05-D10D97AE676B}"/>
              </a:ext>
            </a:extLst>
          </p:cNvPr>
          <p:cNvSpPr txBox="1"/>
          <p:nvPr/>
        </p:nvSpPr>
        <p:spPr>
          <a:xfrm>
            <a:off x="973394" y="1976284"/>
            <a:ext cx="99600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Josefin Sans" pitchFamily="2" charset="0"/>
              </a:rPr>
              <a:t>1. Handling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Josefin Sans" pitchFamily="2" charset="0"/>
            </a:endParaRPr>
          </a:p>
          <a:p>
            <a:r>
              <a:rPr lang="en-US" sz="2000" dirty="0">
                <a:latin typeface="Josefin Sans" pitchFamily="2" charset="0"/>
              </a:rPr>
              <a:t> 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Some markdown values were missing.</a:t>
            </a:r>
            <a:endParaRPr lang="en-US" sz="2000" dirty="0">
              <a:latin typeface="Josefin Sans" pitchFamily="2" charset="0"/>
            </a:endParaRPr>
          </a:p>
          <a:p>
            <a:r>
              <a:rPr lang="en-US" sz="2000" dirty="0">
                <a:latin typeface="Josefin Sans" pitchFamily="2" charset="0"/>
              </a:rPr>
              <a:t>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We replaced them with 0 because: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  Missing markdown usually means no promotion existed.</a:t>
            </a: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  <a:p>
            <a:r>
              <a:rPr lang="en-US" sz="2000" dirty="0">
                <a:latin typeface="Josefin Sans" pitchFamily="2" charset="0"/>
              </a:rPr>
              <a:t>2. Converting Dates</a:t>
            </a:r>
          </a:p>
          <a:p>
            <a:r>
              <a:rPr lang="en-US" sz="2000" dirty="0">
                <a:latin typeface="Josefin Sans" pitchFamily="2" charset="0"/>
              </a:rPr>
              <a:t>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We changed dates into proper datetime format.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  Dates, numbers</a:t>
            </a: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84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2DC8-E05F-B21F-ACD1-D2F32FCB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C453-916C-F6B3-8D63-A0F55B10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Data Preparation and Preprocessing : Data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64680-040E-CBEC-63C8-21BB99966072}"/>
              </a:ext>
            </a:extLst>
          </p:cNvPr>
          <p:cNvSpPr txBox="1"/>
          <p:nvPr/>
        </p:nvSpPr>
        <p:spPr>
          <a:xfrm>
            <a:off x="973394" y="1336727"/>
            <a:ext cx="996007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Josefin Sans" pitchFamily="2" charset="0"/>
              </a:rPr>
              <a:t>3. Merging Files</a:t>
            </a:r>
          </a:p>
          <a:p>
            <a:r>
              <a:rPr lang="en-US" sz="2000" dirty="0">
                <a:latin typeface="Josefin Sans" pitchFamily="2" charset="0"/>
              </a:rPr>
              <a:t>We combined:</a:t>
            </a:r>
          </a:p>
          <a:p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train.csv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  <a:p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features.xlsx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  <a:p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stores.csv</a:t>
            </a:r>
            <a:endParaRPr lang="en-US" sz="2000" dirty="0">
              <a:latin typeface="Josefin Sans" pitchFamily="2" charset="0"/>
            </a:endParaRPr>
          </a:p>
          <a:p>
            <a:r>
              <a:rPr lang="en-US" sz="2000" dirty="0">
                <a:latin typeface="Josefin Sans" pitchFamily="2" charset="0"/>
              </a:rPr>
              <a:t>Into one full dataset.</a:t>
            </a: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  <a:p>
            <a:r>
              <a:rPr lang="en-US" sz="2000" dirty="0">
                <a:latin typeface="Josefin Sans" pitchFamily="2" charset="0"/>
              </a:rPr>
              <a:t>4. One-Hot Encoding</a:t>
            </a:r>
          </a:p>
          <a:p>
            <a:r>
              <a:rPr lang="en-US" sz="2000" dirty="0">
                <a:latin typeface="Josefin Sans" pitchFamily="2" charset="0"/>
              </a:rPr>
              <a:t>We converted categories like: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Store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Department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Store Type </a:t>
            </a:r>
          </a:p>
          <a:p>
            <a:r>
              <a:rPr lang="en-US" sz="2000" dirty="0">
                <a:latin typeface="Josefin Sans" pitchFamily="2" charset="0"/>
              </a:rPr>
              <a:t>Into machine-readable columns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The model cannot understand words directly, so we translate them into numbers</a:t>
            </a: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635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2626-9432-5FD9-620B-46C6099C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1EFD-188B-FA43-2B66-9B8A68AA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Data Preparation and Preprocessing : Data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D83C8-60DC-E77D-984A-C09BA634EA40}"/>
              </a:ext>
            </a:extLst>
          </p:cNvPr>
          <p:cNvSpPr txBox="1"/>
          <p:nvPr/>
        </p:nvSpPr>
        <p:spPr>
          <a:xfrm>
            <a:off x="838200" y="2228671"/>
            <a:ext cx="9960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Josefin Sans" pitchFamily="2" charset="0"/>
              </a:rPr>
              <a:t>5. Outlier Handling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Josefin Sans" pitchFamily="2" charset="0"/>
              </a:rPr>
              <a:t>Some values were unrealistically high or low.</a:t>
            </a: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We capped them using IQR.</a:t>
            </a:r>
          </a:p>
        </p:txBody>
      </p:sp>
    </p:spTree>
    <p:extLst>
      <p:ext uri="{BB962C8B-B14F-4D97-AF65-F5344CB8AC3E}">
        <p14:creationId xmlns:p14="http://schemas.microsoft.com/office/powerpoint/2010/main" val="362740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B4B6-7C2D-E4E1-0139-61F30C45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8032-2A84-5ED7-6E24-29B6E884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Train/Test Split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6DEE8-1043-8359-F8E7-23FB7468867D}"/>
              </a:ext>
            </a:extLst>
          </p:cNvPr>
          <p:cNvSpPr txBox="1"/>
          <p:nvPr/>
        </p:nvSpPr>
        <p:spPr>
          <a:xfrm>
            <a:off x="838200" y="1943536"/>
            <a:ext cx="9960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Josefin Sans" pitchFamily="2" charset="0"/>
              </a:rPr>
              <a:t>Old weeks → Training </a:t>
            </a:r>
          </a:p>
          <a:p>
            <a:endParaRPr lang="en-US" sz="2400" dirty="0">
              <a:latin typeface="Josefin Sans" pitchFamily="2" charset="0"/>
            </a:endParaRPr>
          </a:p>
          <a:p>
            <a:r>
              <a:rPr lang="en-US" sz="2400" dirty="0">
                <a:latin typeface="Josefin Sans" pitchFamily="2" charset="0"/>
              </a:rPr>
              <a:t>New weeks → Testing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Josefin San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3C66D-E0DF-8327-2A7B-1227E821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62" y="3895113"/>
            <a:ext cx="8593476" cy="140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1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54E0-739B-4247-8E7B-D7441BA6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A832-EABA-FC1C-EA0D-B43446A0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Models Chosen : Supervised Models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8EEAA5-FE6B-913B-E507-1575801C0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97920"/>
              </p:ext>
            </p:extLst>
          </p:nvPr>
        </p:nvGraphicFramePr>
        <p:xfrm>
          <a:off x="838200" y="2581516"/>
          <a:ext cx="10515600" cy="2590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156208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34981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79880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Josefin Sans" pitchFamily="2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Josefin Sans" pitchFamily="2" charset="0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Josefin Sans" pitchFamily="2" charset="0"/>
                        </a:rPr>
                        <a:t>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35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Josefin Sans" pitchFamily="2" charset="0"/>
                        </a:rPr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Josefin Sans" pitchFamily="2" charset="0"/>
                        </a:rPr>
                        <a:t>Simple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Josefin Sans" pitchFamily="2" charset="0"/>
                        </a:rPr>
                        <a:t>draw a straight relationship between inputs and sales</a:t>
                      </a:r>
                      <a:endParaRPr lang="en-US" b="0" dirty="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29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Josefin Sans" pitchFamily="2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Josefin Sans" pitchFamily="2" charset="0"/>
                        </a:rPr>
                        <a:t>Strong non-linear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Josefin Sans" pitchFamily="2" charset="0"/>
                        </a:rPr>
                        <a:t>Random Forest creates many decision trees and combines their predictions.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393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Josefin Sans" pitchFamily="2" charset="0"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Josefin Sans" pitchFamily="2" charset="0"/>
                        </a:rPr>
                        <a:t>Advanced boosting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Josefin Sans" pitchFamily="2" charset="0"/>
                        </a:rPr>
                        <a:t>Each new tree learns from previous errors</a:t>
                      </a:r>
                      <a:endParaRPr lang="en-US" b="0" dirty="0">
                        <a:latin typeface="Josefi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64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76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C878-1E67-B086-464F-83FF8446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873F-082D-84AA-7DD7-BD988EFC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Normalization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EEC20-95B8-8D4D-0512-242C0B684690}"/>
              </a:ext>
            </a:extLst>
          </p:cNvPr>
          <p:cNvSpPr txBox="1"/>
          <p:nvPr/>
        </p:nvSpPr>
        <p:spPr>
          <a:xfrm>
            <a:off x="1002890" y="1415845"/>
            <a:ext cx="82394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Josefin Sans" pitchFamily="2" charset="0"/>
              </a:rPr>
              <a:t>Normalization scales numbers into a smaller range.</a:t>
            </a:r>
          </a:p>
          <a:p>
            <a:r>
              <a:rPr lang="en-US" dirty="0">
                <a:latin typeface="Josefin Sans" pitchFamily="2" charset="0"/>
              </a:rPr>
              <a:t>Example:</a:t>
            </a:r>
          </a:p>
          <a:p>
            <a:r>
              <a:rPr lang="en-US" dirty="0">
                <a:latin typeface="Josefin Sans" pitchFamily="2" charset="0"/>
              </a:rPr>
              <a:t>Temperature = 70 </a:t>
            </a:r>
          </a:p>
          <a:p>
            <a:r>
              <a:rPr lang="en-US" dirty="0">
                <a:latin typeface="Josefin Sans" pitchFamily="2" charset="0"/>
              </a:rPr>
              <a:t>CPI = 200 </a:t>
            </a:r>
          </a:p>
          <a:p>
            <a:r>
              <a:rPr lang="en-US" dirty="0">
                <a:latin typeface="Josefin Sans" pitchFamily="2" charset="0"/>
              </a:rPr>
              <a:t>After normalization:</a:t>
            </a:r>
          </a:p>
          <a:p>
            <a:r>
              <a:rPr lang="en-US" dirty="0">
                <a:latin typeface="Josefin Sans" pitchFamily="2" charset="0"/>
              </a:rPr>
              <a:t>Both become values between 0 and 1</a:t>
            </a:r>
          </a:p>
          <a:p>
            <a:endParaRPr lang="en-US" dirty="0">
              <a:latin typeface="Josefin 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DA59E-869E-D0DD-C77D-CD185CC1EEA8}"/>
              </a:ext>
            </a:extLst>
          </p:cNvPr>
          <p:cNvSpPr txBox="1"/>
          <p:nvPr/>
        </p:nvSpPr>
        <p:spPr>
          <a:xfrm>
            <a:off x="1002889" y="3824749"/>
            <a:ext cx="82394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Josefin Sans" pitchFamily="2" charset="0"/>
              </a:rPr>
              <a:t>Normalization helped Linear Regression.</a:t>
            </a:r>
          </a:p>
          <a:p>
            <a:r>
              <a:rPr lang="en-US" sz="2000" dirty="0">
                <a:latin typeface="Josefin Sans" pitchFamily="2" charset="0"/>
              </a:rPr>
              <a:t>But it made almost no difference for Random Forest.</a:t>
            </a:r>
          </a:p>
          <a:p>
            <a:r>
              <a:rPr lang="en-US" sz="2000" dirty="0" err="1">
                <a:latin typeface="Josefin Sans" pitchFamily="2" charset="0"/>
              </a:rPr>
              <a:t>XGBoosting</a:t>
            </a:r>
            <a:r>
              <a:rPr lang="en-US" sz="2000" dirty="0">
                <a:latin typeface="Josefin Sans" pitchFamily="2" charset="0"/>
              </a:rPr>
              <a:t> does not need normalization</a:t>
            </a:r>
          </a:p>
        </p:txBody>
      </p:sp>
    </p:spTree>
    <p:extLst>
      <p:ext uri="{BB962C8B-B14F-4D97-AF65-F5344CB8AC3E}">
        <p14:creationId xmlns:p14="http://schemas.microsoft.com/office/powerpoint/2010/main" val="425434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A38D-01B3-7817-B1AD-4E38A808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8AE1-751B-D75A-539F-F8F98C1E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7C83C-7229-117C-9026-1325C0B8A9B7}"/>
              </a:ext>
            </a:extLst>
          </p:cNvPr>
          <p:cNvSpPr txBox="1"/>
          <p:nvPr/>
        </p:nvSpPr>
        <p:spPr>
          <a:xfrm>
            <a:off x="838200" y="1584452"/>
            <a:ext cx="5142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Model Performance Comparison</a:t>
            </a:r>
          </a:p>
          <a:p>
            <a:endParaRPr lang="en-US" sz="2000" dirty="0">
              <a:latin typeface="Josefin Sans" pitchFamily="2" charset="0"/>
            </a:endParaRPr>
          </a:p>
          <a:p>
            <a:r>
              <a:rPr lang="en-US" sz="2000" dirty="0"/>
              <a:t>  Lower MAE/</a:t>
            </a:r>
            <a:r>
              <a:rPr lang="en-US" sz="2000" dirty="0" err="1"/>
              <a:t>RMSE</a:t>
            </a:r>
            <a:r>
              <a:rPr lang="en-US" sz="2000" dirty="0"/>
              <a:t> = fewer mistakes </a:t>
            </a:r>
          </a:p>
          <a:p>
            <a:r>
              <a:rPr lang="en-US" sz="2000" dirty="0"/>
              <a:t>  Higher </a:t>
            </a:r>
            <a:r>
              <a:rPr lang="en-US" sz="2000" dirty="0" err="1"/>
              <a:t>R²</a:t>
            </a:r>
            <a:r>
              <a:rPr lang="en-US" sz="2000" dirty="0"/>
              <a:t> = better predictions</a:t>
            </a:r>
            <a:endParaRPr lang="en-US" sz="2000" dirty="0">
              <a:latin typeface="Josefin San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C3949-77EE-7418-7915-C66B2A8DB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96" y="2907891"/>
            <a:ext cx="9792549" cy="3406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0CC76C-E55B-1637-47CD-072E25E14B79}"/>
                  </a:ext>
                </a:extLst>
              </p:cNvPr>
              <p:cNvSpPr txBox="1"/>
              <p:nvPr/>
            </p:nvSpPr>
            <p:spPr>
              <a:xfrm>
                <a:off x="8753167" y="2430712"/>
                <a:ext cx="3087330" cy="695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0CC76C-E55B-1637-47CD-072E25E14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167" y="2430712"/>
                <a:ext cx="3087330" cy="695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B3C822-FCD0-FC6A-9A7A-B5446A5AB9AF}"/>
                  </a:ext>
                </a:extLst>
              </p:cNvPr>
              <p:cNvSpPr txBox="1"/>
              <p:nvPr/>
            </p:nvSpPr>
            <p:spPr>
              <a:xfrm>
                <a:off x="5257800" y="1293416"/>
                <a:ext cx="6096000" cy="1169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accent2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B3C822-FCD0-FC6A-9A7A-B5446A5AB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293416"/>
                <a:ext cx="6096000" cy="1169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FFF04B-F1E9-DC08-EC57-F4778585A0C7}"/>
                  </a:ext>
                </a:extLst>
              </p:cNvPr>
              <p:cNvSpPr txBox="1"/>
              <p:nvPr/>
            </p:nvSpPr>
            <p:spPr>
              <a:xfrm>
                <a:off x="3556820" y="653855"/>
                <a:ext cx="6740012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FFF04B-F1E9-DC08-EC57-F4778585A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820" y="653855"/>
                <a:ext cx="6740012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256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DB05A-41CD-06EF-E635-6360D6BF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1649576"/>
            <a:ext cx="11751058" cy="355884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4EB09C-2BE0-F580-ECA2-20286F11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Results : Why is Linear regression is too bad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42DB9B-7A95-CC76-31F0-F66D81C590E3}"/>
              </a:ext>
            </a:extLst>
          </p:cNvPr>
          <p:cNvSpPr txBox="1">
            <a:spLocks/>
          </p:cNvSpPr>
          <p:nvPr/>
        </p:nvSpPr>
        <p:spPr>
          <a:xfrm>
            <a:off x="730046" y="52084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Dataset is mostly non-linear</a:t>
            </a:r>
          </a:p>
        </p:txBody>
      </p:sp>
    </p:spTree>
    <p:extLst>
      <p:ext uri="{BB962C8B-B14F-4D97-AF65-F5344CB8AC3E}">
        <p14:creationId xmlns:p14="http://schemas.microsoft.com/office/powerpoint/2010/main" val="373975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16D2-982C-0B4C-464F-20B45224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941D380-314D-B556-425B-54560ABB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Results : Discussion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672E0A-B6BF-E8E9-C65F-0042139B57D2}"/>
              </a:ext>
            </a:extLst>
          </p:cNvPr>
          <p:cNvSpPr txBox="1">
            <a:spLocks/>
          </p:cNvSpPr>
          <p:nvPr/>
        </p:nvSpPr>
        <p:spPr>
          <a:xfrm>
            <a:off x="838200" y="17966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chemeClr val="accent1">
                  <a:lumMod val="75000"/>
                </a:schemeClr>
              </a:solidFill>
              <a:latin typeface="Josefin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88657-3891-C2CF-B484-B7B9A207132C}"/>
              </a:ext>
            </a:extLst>
          </p:cNvPr>
          <p:cNvSpPr txBox="1"/>
          <p:nvPr/>
        </p:nvSpPr>
        <p:spPr>
          <a:xfrm>
            <a:off x="838200" y="1140542"/>
            <a:ext cx="8829367" cy="587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Josefin Sans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Josefin Sans" pitchFamily="2" charset="0"/>
              </a:rPr>
              <a:t>Random Forest achieved the best performance with the highest Test </a:t>
            </a:r>
            <a:r>
              <a:rPr lang="en-US" dirty="0" err="1">
                <a:latin typeface="Josefin Sans" pitchFamily="2" charset="0"/>
              </a:rPr>
              <a:t>R²</a:t>
            </a:r>
            <a:r>
              <a:rPr lang="en-US" dirty="0">
                <a:latin typeface="Josefin Sans" pitchFamily="2" charset="0"/>
              </a:rPr>
              <a:t> and lowest prediction errors (MAE and </a:t>
            </a:r>
            <a:r>
              <a:rPr lang="en-US" dirty="0" err="1">
                <a:latin typeface="Josefin Sans" pitchFamily="2" charset="0"/>
              </a:rPr>
              <a:t>RMSE</a:t>
            </a:r>
            <a:r>
              <a:rPr lang="en-US" dirty="0">
                <a:latin typeface="Josefin Sans" pitchFamily="2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Josefin Sans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Josefin Sans" pitchFamily="2" charset="0"/>
              </a:rPr>
              <a:t>This indicates that the dataset contains nonlinear relationships that were better captured by Random Forest compared to Linear Regression.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Josefin Sans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Josefin Sans" pitchFamily="2" charset="0"/>
              </a:rPr>
              <a:t>XGBoost</a:t>
            </a:r>
            <a:r>
              <a:rPr lang="en-US" dirty="0">
                <a:latin typeface="Josefin Sans" pitchFamily="2" charset="0"/>
              </a:rPr>
              <a:t> performed well, but Random Forest produced more accurate and stable predictions on the test data, due to the justifiable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Josefin Sans" pitchFamily="2" charset="0"/>
              </a:rPr>
              <a:t>outliers in holidays and promotions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Josefin Sans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Josefin Sans" pitchFamily="2" charset="0"/>
              </a:rPr>
              <a:t>The small difference between normalized and raw RF results shows that feature scaling had little effect on tree-based models.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68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1720-D3D1-5527-B761-27A83014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C867-DAF4-9AE6-7925-1A8CDC9B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Deployment with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Streamlit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Josefin San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81DBB-2E08-5F32-30F1-3E7A280DB3E4}"/>
              </a:ext>
            </a:extLst>
          </p:cNvPr>
          <p:cNvSpPr txBox="1"/>
          <p:nvPr/>
        </p:nvSpPr>
        <p:spPr>
          <a:xfrm>
            <a:off x="960319" y="1514383"/>
            <a:ext cx="82394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Josefin Sans" pitchFamily="2" charset="0"/>
              </a:rPr>
              <a:t>1. User enters:</a:t>
            </a:r>
          </a:p>
          <a:p>
            <a:r>
              <a:rPr lang="en-US" sz="2000" dirty="0">
                <a:latin typeface="Josefin Sans" pitchFamily="2" charset="0"/>
              </a:rPr>
              <a:t>Store number </a:t>
            </a:r>
          </a:p>
          <a:p>
            <a:r>
              <a:rPr lang="en-US" sz="2000" dirty="0">
                <a:latin typeface="Josefin Sans" pitchFamily="2" charset="0"/>
              </a:rPr>
              <a:t>Department </a:t>
            </a:r>
          </a:p>
          <a:p>
            <a:r>
              <a:rPr lang="en-US" sz="2000" dirty="0">
                <a:latin typeface="Josefin Sans" pitchFamily="2" charset="0"/>
              </a:rPr>
              <a:t>Economic data </a:t>
            </a:r>
          </a:p>
          <a:p>
            <a:r>
              <a:rPr lang="en-US" sz="2000" dirty="0">
                <a:latin typeface="Josefin Sans" pitchFamily="2" charset="0"/>
              </a:rPr>
              <a:t>Markdown value </a:t>
            </a:r>
          </a:p>
          <a:p>
            <a:r>
              <a:rPr lang="en-US" sz="2000" dirty="0">
                <a:latin typeface="Josefin Sans" pitchFamily="2" charset="0"/>
              </a:rPr>
              <a:t>↓</a:t>
            </a:r>
          </a:p>
          <a:p>
            <a:r>
              <a:rPr lang="en-US" sz="2000" b="1" dirty="0">
                <a:latin typeface="Josefin Sans" pitchFamily="2" charset="0"/>
              </a:rPr>
              <a:t>2. App prepares data</a:t>
            </a:r>
          </a:p>
          <a:p>
            <a:r>
              <a:rPr lang="en-US" sz="2000" dirty="0">
                <a:latin typeface="Josefin Sans" pitchFamily="2" charset="0"/>
              </a:rPr>
              <a:t>↓</a:t>
            </a:r>
          </a:p>
          <a:p>
            <a:r>
              <a:rPr lang="en-US" sz="2000" b="1" dirty="0">
                <a:latin typeface="Josefin Sans" pitchFamily="2" charset="0"/>
              </a:rPr>
              <a:t>3. Same preprocessing is applied</a:t>
            </a:r>
          </a:p>
          <a:p>
            <a:r>
              <a:rPr lang="en-US" sz="2000" dirty="0">
                <a:latin typeface="Josefin Sans" pitchFamily="2" charset="0"/>
              </a:rPr>
              <a:t>↓</a:t>
            </a:r>
          </a:p>
          <a:p>
            <a:r>
              <a:rPr lang="en-US" sz="2000" b="1" dirty="0">
                <a:latin typeface="Josefin Sans" pitchFamily="2" charset="0"/>
              </a:rPr>
              <a:t>4. Model predicts weekly sales</a:t>
            </a:r>
          </a:p>
          <a:p>
            <a:r>
              <a:rPr lang="en-US" sz="2000" dirty="0">
                <a:latin typeface="Josefin Sans" pitchFamily="2" charset="0"/>
              </a:rPr>
              <a:t>↓</a:t>
            </a:r>
          </a:p>
          <a:p>
            <a:r>
              <a:rPr lang="en-US" sz="2000" b="1" dirty="0">
                <a:latin typeface="Josefin Sans" pitchFamily="2" charset="0"/>
              </a:rPr>
              <a:t>5. Prediction displayed instantly</a:t>
            </a:r>
          </a:p>
        </p:txBody>
      </p:sp>
    </p:spTree>
    <p:extLst>
      <p:ext uri="{BB962C8B-B14F-4D97-AF65-F5344CB8AC3E}">
        <p14:creationId xmlns:p14="http://schemas.microsoft.com/office/powerpoint/2010/main" val="134138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C59D7-BB94-C87A-1DE7-053392B1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4DEB4-1C9E-1F82-8F22-15CD5B81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Free 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67A75-F00E-0E77-CFD0-8E70F77F0A43}"/>
              </a:ext>
            </a:extLst>
          </p:cNvPr>
          <p:cNvSpPr txBox="1"/>
          <p:nvPr/>
        </p:nvSpPr>
        <p:spPr>
          <a:xfrm>
            <a:off x="950486" y="1690688"/>
            <a:ext cx="82394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Josefin Sans" pitchFamily="2" charset="0"/>
              </a:rPr>
              <a:t>How </a:t>
            </a:r>
            <a:r>
              <a:rPr lang="en-US" sz="2000" b="1" dirty="0" err="1">
                <a:latin typeface="Josefin Sans" pitchFamily="2" charset="0"/>
              </a:rPr>
              <a:t>XGBoost</a:t>
            </a:r>
            <a:r>
              <a:rPr lang="en-US" sz="2000" b="1" dirty="0">
                <a:latin typeface="Josefin Sans" pitchFamily="2" charset="0"/>
              </a:rPr>
              <a:t> Thinks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Josefin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It takes the dataset and makes a </a:t>
            </a:r>
            <a:r>
              <a:rPr lang="en-US" sz="2000" b="1" dirty="0">
                <a:latin typeface="Josefin Sans" pitchFamily="2" charset="0"/>
              </a:rPr>
              <a:t>baseline guess.</a:t>
            </a:r>
            <a:r>
              <a:rPr lang="en-US" sz="2000" dirty="0">
                <a:latin typeface="Josefin Sans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Then it measures how wrong the predictions are using </a:t>
            </a:r>
            <a:r>
              <a:rPr lang="en-US" sz="2000" b="1" dirty="0">
                <a:latin typeface="Josefin Sans" pitchFamily="2" charset="0"/>
              </a:rPr>
              <a:t>(gradients + confidence of error)</a:t>
            </a:r>
            <a:r>
              <a:rPr lang="en-US" sz="2000" dirty="0">
                <a:latin typeface="Josefin Sans" pitchFamily="2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When building the tree, it chooses splits using a </a:t>
            </a:r>
            <a:r>
              <a:rPr lang="en-US" sz="2000" b="1" dirty="0">
                <a:latin typeface="Josefin Sans" pitchFamily="2" charset="0"/>
              </a:rPr>
              <a:t>gain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ignores weak splits to avoid overfitting.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The new tree’s contribution is </a:t>
            </a:r>
            <a:r>
              <a:rPr lang="en-US" sz="2000" b="1" dirty="0">
                <a:latin typeface="Josefin Sans" pitchFamily="2" charset="0"/>
              </a:rPr>
              <a:t>scaled down using a learning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Josefin Sans" pitchFamily="2" charset="0"/>
              </a:rPr>
              <a:t>All trees are combined together to produce the </a:t>
            </a:r>
            <a:r>
              <a:rPr lang="en-US" sz="2000" b="1" dirty="0">
                <a:latin typeface="Josefin Sans" pitchFamily="2" charset="0"/>
              </a:rPr>
              <a:t>final improved prediction</a:t>
            </a:r>
            <a:r>
              <a:rPr lang="en-US" sz="2000" dirty="0">
                <a:latin typeface="Josefi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8332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CF6C-0E79-BAB1-3E5C-D964104F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accent1">
                    <a:lumMod val="75000"/>
                  </a:schemeClr>
                </a:solidFill>
                <a:latin typeface="Josefin Sans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8839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567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Josefin Sans</vt:lpstr>
      <vt:lpstr>Josefin Sans Bold</vt:lpstr>
      <vt:lpstr>Office Theme</vt:lpstr>
      <vt:lpstr>PowerPoint Presentation</vt:lpstr>
      <vt:lpstr>Introduction</vt:lpstr>
      <vt:lpstr>Data Preparation and Preprocessing</vt:lpstr>
      <vt:lpstr>Data Preparation and Preprocessing : Data Cleaning</vt:lpstr>
      <vt:lpstr>Data Preparation and Preprocessing : Data Cleaning</vt:lpstr>
      <vt:lpstr>Data Preparation and Preprocessing : Data Cleaning</vt:lpstr>
      <vt:lpstr>Train/Test Split</vt:lpstr>
      <vt:lpstr>Models Chosen : Supervised Models</vt:lpstr>
      <vt:lpstr>Normalization</vt:lpstr>
      <vt:lpstr>Results</vt:lpstr>
      <vt:lpstr>Results : Why is Linear regression is too bad</vt:lpstr>
      <vt:lpstr>Results : Discussion</vt:lpstr>
      <vt:lpstr>Deployment with Streamlit</vt:lpstr>
      <vt:lpstr>Free Topic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Yahia Zakaria Shazly</dc:creator>
  <cp:lastModifiedBy>Yahia Zakaria Shazly</cp:lastModifiedBy>
  <cp:revision>61</cp:revision>
  <dcterms:created xsi:type="dcterms:W3CDTF">2026-05-20T06:24:41Z</dcterms:created>
  <dcterms:modified xsi:type="dcterms:W3CDTF">2026-05-20T10:34:06Z</dcterms:modified>
</cp:coreProperties>
</file>